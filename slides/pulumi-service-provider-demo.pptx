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30368" y="1234440"/>
            <a:ext cx="1737360" cy="914400"/>
          </a:xfrm>
          <a:prstGeom prst="rect">
            <a:avLst/>
          </a:prstGeom>
          <a:solidFill>
            <a:srgbClr val="8F7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8F7CF4"/>
                </a:solidFill>
                <a:latin typeface="Menlo"/>
              </a:rPr>
              <a:t>PULUMI SERVICE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457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3F1F8"/>
                </a:solidFill>
                <a:latin typeface="Avenir Next"/>
              </a:rPr>
              <a:t>Your org is infrastructure too.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2304" y="3977639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9C96AE"/>
                </a:solidFill>
                <a:latin typeface="Helvetica Neue"/>
              </a:rPr>
              <a:t>A live walkthrough: a team, a stack, and an OIDC-backed ESC environment — provisioned and permissioned entirely as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C96AE"/>
                </a:solidFill>
                <a:latin typeface="Menlo"/>
              </a:rPr>
              <a:t>Live in the man-demo 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WHY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3F1F8"/>
                </a:solidFill>
                <a:latin typeface="Avenir Next"/>
              </a:rPr>
              <a:t>Code beats console clicks.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9C96AE"/>
                </a:solidFill>
                <a:latin typeface="Helvetica Neue"/>
              </a:rPr>
              <a:t>Pulumi's whole premise is describing infrastructure in real code, in a real language. That earns you things a console click never gives back: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27432" cy="868680"/>
          </a:xfrm>
          <a:prstGeom prst="rect">
            <a:avLst/>
          </a:prstGeom>
          <a:solidFill>
            <a:srgbClr val="32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4645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Version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71800"/>
            <a:ext cx="4645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Every change has a history, a diff, and an author.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606040"/>
            <a:ext cx="27432" cy="868680"/>
          </a:xfrm>
          <a:prstGeom prst="rect">
            <a:avLst/>
          </a:prstGeom>
          <a:solidFill>
            <a:srgbClr val="32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2606040"/>
            <a:ext cx="4645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Code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971800"/>
            <a:ext cx="4645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Infra changes go through the same PR process as app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11880"/>
            <a:ext cx="27432" cy="868680"/>
          </a:xfrm>
          <a:prstGeom prst="rect">
            <a:avLst/>
          </a:prstGeom>
          <a:solidFill>
            <a:srgbClr val="32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11880"/>
            <a:ext cx="4645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Repeatability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77640"/>
            <a:ext cx="4645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Spin up identical environments on demand, no manual drift.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3611880"/>
            <a:ext cx="27432" cy="868680"/>
          </a:xfrm>
          <a:prstGeom prst="rect">
            <a:avLst/>
          </a:prstGeom>
          <a:solidFill>
            <a:srgbClr val="32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611880"/>
            <a:ext cx="4645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977640"/>
            <a:ext cx="4645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Wire it into CI/CD — no runbooks to hand 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058400" cy="137160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09160"/>
            <a:ext cx="45720" cy="1371600"/>
          </a:xfrm>
          <a:prstGeom prst="rect">
            <a:avLst/>
          </a:prstGeom>
          <a:solidFill>
            <a:srgbClr val="8F7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73752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C96AE"/>
                </a:solidFill>
                <a:latin typeface="Helvetica Neue"/>
              </a:rPr>
              <a:t>Those benefits don't have to stop at cloud infrastructure. </a:t>
            </a:r>
            <a:r>
              <a:rPr sz="1500" b="1" i="0">
                <a:solidFill>
                  <a:srgbClr val="F3F1F8"/>
                </a:solidFill>
                <a:latin typeface="Helvetica Neue"/>
              </a:rPr>
              <a:t>The Pulumi org itself — teams, permissions, stacks, environments — is just another resource graph.</a:t>
            </a:r>
            <a:r>
              <a:rPr sz="1500" b="0" i="0">
                <a:solidFill>
                  <a:srgbClr val="9C96AE"/>
                </a:solidFill>
                <a:latin typeface="Helvetica Neue"/>
              </a:rPr>
              <a:t> The Pulumi Service provider lets us manage it the exact same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3F1F8"/>
                </a:solidFill>
                <a:latin typeface="Avenir Next"/>
              </a:rPr>
              <a:t>Provisioning the org, in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9C96AE"/>
                </a:solidFill>
                <a:latin typeface="Helvetica Neue"/>
              </a:rPr>
              <a:t>One TypeScript program, four resources, no dashboard clicking: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0149840" cy="96012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642616"/>
            <a:ext cx="502920" cy="502920"/>
          </a:xfrm>
          <a:prstGeom prst="ellipse">
            <a:avLst/>
          </a:prstGeom>
          <a:solidFill>
            <a:srgbClr val="242035"/>
          </a:solidFill>
          <a:ln w="12700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4261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8F7CF4"/>
                </a:solidFill>
                <a:latin typeface="Menl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4203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Create a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926080"/>
            <a:ext cx="1468526" cy="274320"/>
          </a:xfrm>
          <a:prstGeom prst="rect">
            <a:avLst/>
          </a:prstGeom>
          <a:solidFill>
            <a:srgbClr val="262238"/>
          </a:solidFill>
          <a:ln w="9525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907792"/>
            <a:ext cx="146852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F7CF4"/>
                </a:solidFill>
                <a:latin typeface="Menlo"/>
              </a:rPr>
              <a:t>pulumiservice.Team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542032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9C96AE"/>
                </a:solidFill>
                <a:latin typeface="Helvetica Neue"/>
              </a:rPr>
              <a:t>A named team in the org, ready to hold members and permissions.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56432"/>
            <a:ext cx="10149840" cy="96012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675888"/>
            <a:ext cx="502920" cy="502920"/>
          </a:xfrm>
          <a:prstGeom prst="ellipse">
            <a:avLst/>
          </a:prstGeom>
          <a:solidFill>
            <a:srgbClr val="242035"/>
          </a:solidFill>
          <a:ln w="12700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75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8F7CF4"/>
                </a:solidFill>
                <a:latin typeface="Menl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7530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Add an org member to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959352"/>
            <a:ext cx="1018641" cy="274320"/>
          </a:xfrm>
          <a:prstGeom prst="rect">
            <a:avLst/>
          </a:prstGeom>
          <a:solidFill>
            <a:srgbClr val="262238"/>
          </a:solidFill>
          <a:ln w="9525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941064"/>
            <a:ext cx="101864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F7CF4"/>
                </a:solidFill>
                <a:latin typeface="Menlo"/>
              </a:rPr>
              <a:t>team.members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575304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9C96AE"/>
                </a:solidFill>
                <a:latin typeface="Helvetica Neue"/>
              </a:rPr>
              <a:t>An existing Pulumi Cloud user, associated with the team by username.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89704"/>
            <a:ext cx="10149840" cy="96012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709160"/>
            <a:ext cx="502920" cy="502920"/>
          </a:xfrm>
          <a:prstGeom prst="ellipse">
            <a:avLst/>
          </a:prstGeom>
          <a:solidFill>
            <a:srgbClr val="242035"/>
          </a:solidFill>
          <a:ln w="12700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8F7CF4"/>
                </a:solidFill>
                <a:latin typeface="Menl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0857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Create a stack, grant 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4992624"/>
            <a:ext cx="2143353" cy="274320"/>
          </a:xfrm>
          <a:prstGeom prst="rect">
            <a:avLst/>
          </a:prstGeom>
          <a:solidFill>
            <a:srgbClr val="262238"/>
          </a:solidFill>
          <a:ln w="9525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974336"/>
            <a:ext cx="214335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F7CF4"/>
                </a:solidFill>
                <a:latin typeface="Menlo"/>
              </a:rPr>
              <a:t>Stack + TeamStackPermission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608576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9C96AE"/>
                </a:solidFill>
                <a:latin typeface="Helvetica Neue"/>
              </a:rPr>
              <a:t>A fresh project/stack, with the new team able to deploy to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522976"/>
            <a:ext cx="10149840" cy="96012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5742432"/>
            <a:ext cx="502920" cy="502920"/>
          </a:xfrm>
          <a:prstGeom prst="ellipse">
            <a:avLst/>
          </a:prstGeom>
          <a:solidFill>
            <a:srgbClr val="242035"/>
          </a:solidFill>
          <a:ln w="12700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742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8F7CF4"/>
                </a:solidFill>
                <a:latin typeface="Menlo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64184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Stand up an ESC environment with AWS OIDC, grant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6025896"/>
            <a:ext cx="3043123" cy="274320"/>
          </a:xfrm>
          <a:prstGeom prst="rect">
            <a:avLst/>
          </a:prstGeom>
          <a:solidFill>
            <a:srgbClr val="262238"/>
          </a:solidFill>
          <a:ln w="9525">
            <a:solidFill>
              <a:srgbClr val="5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6007608"/>
            <a:ext cx="30431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F7CF4"/>
                </a:solidFill>
                <a:latin typeface="Menlo"/>
              </a:rPr>
              <a:t>Environment + TeamEnvironmentPermission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641848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9C96AE"/>
                </a:solidFill>
                <a:latin typeface="Helvetica Neue"/>
              </a:rPr>
              <a:t>fn::open::aws-login mints short-lived AWS credentials — no static keys, 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THE DEMO —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3F1F8"/>
                </a:solidFill>
                <a:latin typeface="Avenir Next"/>
              </a:rPr>
              <a:t>Four resources, one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9C96AE"/>
                </a:solidFill>
                <a:latin typeface="Helvetica Neue"/>
              </a:rPr>
              <a:t>Straight from </a:t>
            </a:r>
            <a:r>
              <a:rPr sz="1600" b="0" i="0">
                <a:solidFill>
                  <a:srgbClr val="F3F1F8"/>
                </a:solidFill>
                <a:latin typeface="Menlo"/>
              </a:rPr>
              <a:t>service-provider-demo/index.ts</a:t>
            </a:r>
            <a:r>
              <a:rPr sz="1600" b="0" i="0">
                <a:solidFill>
                  <a:srgbClr val="9C96AE"/>
                </a:solidFill>
                <a:latin typeface="Helvetica Neue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10149840" cy="3977639"/>
          </a:xfrm>
          <a:prstGeom prst="rect">
            <a:avLst/>
          </a:prstGeom>
          <a:solidFill>
            <a:srgbClr val="100E17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149840" cy="384048"/>
          </a:xfrm>
          <a:prstGeom prst="rect">
            <a:avLst/>
          </a:prstGeom>
          <a:solidFill>
            <a:srgbClr val="18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96AE"/>
                </a:solidFill>
                <a:latin typeface="Menlo"/>
              </a:rPr>
              <a:t>index.ts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9601200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const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team = </a:t>
            </a:r>
            <a:r>
              <a:rPr sz="1300" b="0" i="0">
                <a:solidFill>
                  <a:srgbClr val="8F7CF4"/>
                </a:solidFill>
                <a:latin typeface="Menlo"/>
              </a:rPr>
              <a:t>new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service.Team</a:t>
            </a:r>
            <a:r>
              <a:rPr sz="1300" b="0" i="0">
                <a:solidFill>
                  <a:srgbClr val="F3F1F8"/>
                </a:solidFill>
                <a:latin typeface="Menlo"/>
              </a:rPr>
              <a:t>(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"demo-team"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,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name: teamName,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teamType: 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"pulumi"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members: [currentUser, memberUsername], </a:t>
            </a:r>
            <a:r>
              <a:rPr sz="1300" b="0" i="1">
                <a:solidFill>
                  <a:srgbClr val="9C96AE"/>
                </a:solidFill>
                <a:latin typeface="Menlo"/>
              </a:rPr>
              <a:t>// step 1 + 2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});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const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demoStack = </a:t>
            </a:r>
            <a:r>
              <a:rPr sz="1300" b="0" i="0">
                <a:solidFill>
                  <a:srgbClr val="8F7CF4"/>
                </a:solidFill>
                <a:latin typeface="Menlo"/>
              </a:rPr>
              <a:t>new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service.Stack</a:t>
            </a:r>
            <a:r>
              <a:rPr sz="1300" b="0" i="0">
                <a:solidFill>
                  <a:srgbClr val="F3F1F8"/>
                </a:solidFill>
                <a:latin typeface="Menlo"/>
              </a:rPr>
              <a:t>(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"demo-stack"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, { </a:t>
            </a:r>
            <a:r>
              <a:rPr sz="1300" b="0" i="1">
                <a:solidFill>
                  <a:srgbClr val="9C96AE"/>
                </a:solidFill>
                <a:latin typeface="Menlo"/>
              </a:rPr>
              <a:t>// step 3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projectName: demoProjectName, stackName: demoStackName,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});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new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service.TeamStackPermission</a:t>
            </a:r>
            <a:r>
              <a:rPr sz="1300" b="0" i="0">
                <a:solidFill>
                  <a:srgbClr val="F3F1F8"/>
                </a:solidFill>
                <a:latin typeface="Menlo"/>
              </a:rPr>
              <a:t>(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"demo-stack-permission"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,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team: teamName, permission: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TeamStackPermissionScope</a:t>
            </a:r>
            <a:r>
              <a:rPr sz="1300" b="0" i="0">
                <a:solidFill>
                  <a:srgbClr val="F3F1F8"/>
                </a:solidFill>
                <a:latin typeface="Menlo"/>
              </a:rPr>
              <a:t>.Edit,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});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new</a:t>
            </a:r>
            <a:r>
              <a:rPr sz="1300" b="0" i="0">
                <a:solidFill>
                  <a:srgbClr val="F3F1F8"/>
                </a:solidFill>
                <a:latin typeface="Menlo"/>
              </a:rPr>
              <a:t>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service.TeamEnvironmentPermission</a:t>
            </a:r>
            <a:r>
              <a:rPr sz="1300" b="0" i="0">
                <a:solidFill>
                  <a:srgbClr val="F3F1F8"/>
                </a:solidFill>
                <a:latin typeface="Menlo"/>
              </a:rPr>
              <a:t>(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"demo-esc-environment-permission"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, { </a:t>
            </a:r>
            <a:r>
              <a:rPr sz="1300" b="0" i="1">
                <a:solidFill>
                  <a:srgbClr val="9C96AE"/>
                </a:solidFill>
                <a:latin typeface="Menlo"/>
              </a:rPr>
              <a:t>// step 4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environment: escStack.getOutput(</a:t>
            </a:r>
            <a:r>
              <a:rPr sz="1300" b="0" i="0">
                <a:solidFill>
                  <a:srgbClr val="55D6A0"/>
                </a:solidFill>
                <a:latin typeface="Menlo"/>
              </a:rPr>
              <a:t>"escEnvironmentName"</a:t>
            </a:r>
            <a:r>
              <a:rPr sz="1300" b="0" i="0">
                <a:solidFill>
                  <a:srgbClr val="F3F1F8"/>
                </a:solidFill>
                <a:latin typeface="Menlo"/>
              </a:rPr>
              <a:t>),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  team: teamName, permission: </a:t>
            </a:r>
            <a:r>
              <a:rPr sz="1300" b="0" i="0">
                <a:solidFill>
                  <a:srgbClr val="E8B4F0"/>
                </a:solidFill>
                <a:latin typeface="Menlo"/>
              </a:rPr>
              <a:t>EnvironmentPermission</a:t>
            </a:r>
            <a:r>
              <a:rPr sz="1300" b="0" i="0">
                <a:solidFill>
                  <a:srgbClr val="F3F1F8"/>
                </a:solidFill>
                <a:latin typeface="Menlo"/>
              </a:rPr>
              <a:t>.Open,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1F8"/>
                </a:solidFill>
                <a:latin typeface="Menlo"/>
              </a:rP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PROOF, NOT JUST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3F1F8"/>
                </a:solidFill>
                <a:latin typeface="Avenir Next"/>
              </a:rPr>
              <a:t>Meg didn't need a single AWS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9C96AE"/>
                </a:solidFill>
                <a:latin typeface="Helvetica Neue"/>
              </a:rPr>
              <a:t>The moment that program finished, </a:t>
            </a:r>
            <a:r>
              <a:rPr sz="1600" b="1" i="0">
                <a:solidFill>
                  <a:srgbClr val="F3F1F8"/>
                </a:solidFill>
                <a:latin typeface="Helvetica Neue"/>
              </a:rPr>
              <a:t>MeganYTan</a:t>
            </a:r>
            <a:r>
              <a:rPr sz="1600" b="0" i="0">
                <a:solidFill>
                  <a:srgbClr val="9C96AE"/>
                </a:solidFill>
                <a:latin typeface="Helvetica Neue"/>
              </a:rPr>
              <a:t> had Open access to the ESC environment and Edit access to the demo stack — granted entirely by the code on the last slide. Nobody emailed a credential or clicked “add user” in the AWS console.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4892040" cy="2103120"/>
          </a:xfrm>
          <a:prstGeom prst="rect">
            <a:avLst/>
          </a:prstGeom>
          <a:solidFill>
            <a:srgbClr val="281B21"/>
          </a:solidFill>
          <a:ln w="12700">
            <a:solidFill>
              <a:srgbClr val="E27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708C"/>
                </a:solidFill>
                <a:latin typeface="Menlo"/>
              </a:rPr>
              <a:t>✕ THE 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4343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C96AE"/>
                </a:solidFill>
                <a:latin typeface="Helvetica Neue"/>
              </a:rPr>
              <a:t>Static AWS access keys generated, copied into Slack or a password manager, and eventually forgotten about.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246120"/>
            <a:ext cx="4892040" cy="2103120"/>
          </a:xfrm>
          <a:prstGeom prst="rect">
            <a:avLst/>
          </a:prstGeom>
          <a:solidFill>
            <a:srgbClr val="182722"/>
          </a:solidFill>
          <a:ln w="12700">
            <a:solidFill>
              <a:srgbClr val="55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52044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5D6A0"/>
                </a:solidFill>
                <a:latin typeface="Menlo"/>
              </a:rPr>
              <a:t>✓ THIS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023360"/>
            <a:ext cx="4343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C96AE"/>
                </a:solidFill>
                <a:latin typeface="Helvetica Neue"/>
              </a:rPr>
              <a:t>Short-lived, OIDC-minted credentials — scoped to this org, expiring on their own. Nothing to revoke.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LIVE IN THE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 i="0">
                <a:solidFill>
                  <a:srgbClr val="F3F1F8"/>
                </a:solidFill>
                <a:latin typeface="Avenir Next"/>
              </a:rPr>
              <a:t>From esc open to pulumi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9C96AE"/>
                </a:solidFill>
                <a:latin typeface="Helvetica Neue"/>
              </a:rPr>
              <a:t>As the newly added team member, using only the permissions just granted: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149840" cy="3794760"/>
          </a:xfrm>
          <a:prstGeom prst="rect">
            <a:avLst/>
          </a:prstGeom>
          <a:solidFill>
            <a:srgbClr val="100E17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149840" cy="384048"/>
          </a:xfrm>
          <a:prstGeom prst="rect">
            <a:avLst/>
          </a:prstGeom>
          <a:solidFill>
            <a:srgbClr val="18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96AE"/>
                </a:solidFill>
                <a:latin typeface="Menlo"/>
              </a:rPr>
              <a:t>meganytan@laptop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6012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8F7CF4"/>
                </a:solidFill>
                <a:latin typeface="Menlo"/>
              </a:rPr>
              <a:t>$ </a:t>
            </a:r>
            <a:r>
              <a:rPr sz="1400" b="0" i="0">
                <a:solidFill>
                  <a:srgbClr val="F3F1F8"/>
                </a:solidFill>
                <a:latin typeface="Menlo"/>
              </a:rPr>
              <a:t>esc open man-demo/default/aws-oidc-onboarding --format shell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export AWS_ACCESS_KEY_ID=ASIA...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export AWS_SECRET_ACCESS_KEY=****************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export AWS_SESSION_TOKEN=****************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export AWS_REGION=us-west-2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3F1F8"/>
                </a:solidFill>
                <a:latin typeface="Menlo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8F7CF4"/>
                </a:solidFill>
                <a:latin typeface="Menlo"/>
              </a:rPr>
              <a:t>$ </a:t>
            </a:r>
            <a:r>
              <a:rPr sz="1400" b="0" i="0">
                <a:solidFill>
                  <a:srgbClr val="F3F1F8"/>
                </a:solidFill>
                <a:latin typeface="Menlo"/>
              </a:rPr>
              <a:t>pulumi up</a:t>
            </a:r>
            <a:r>
              <a:rPr sz="1400" b="0" i="0">
                <a:solidFill>
                  <a:srgbClr val="9C96AE"/>
                </a:solidFill>
                <a:latin typeface="Menlo"/>
              </a:rPr>
              <a:t>   &lt;in the demo-stack we just got Edit on&gt;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  +  aws:s3:Bucket  demo-bucket  creating...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Menlo"/>
              </a:rPr>
              <a:t>  +  aws:s3:Bucket  demo-bucket  created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5D6A0"/>
                </a:solidFill>
                <a:latin typeface="Menlo"/>
              </a:rPr>
              <a:t>Update succeeded in 6s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9C96AE"/>
                </a:solidFill>
                <a:latin typeface="Helvetica Neue"/>
              </a:rPr>
              <a:t>Credentials expire automatically. Nothing to rotate, nothing to revoke.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7CF4"/>
                </a:solidFill>
                <a:latin typeface="Menlo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3F1F8"/>
                </a:solidFill>
                <a:latin typeface="Avenir Next"/>
              </a:rPr>
              <a:t>Same benefits, new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5D6A0"/>
                </a:solidFill>
                <a:latin typeface="Menlo"/>
              </a:rPr>
              <a:t>versioned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83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Helvetica Neue"/>
              </a:rPr>
              <a:t>The team, the permissions, the OIDC trust — all sat in a git-able index.ts, not a click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5D6A0"/>
                </a:solidFill>
                <a:latin typeface="Menlo"/>
              </a:rPr>
              <a:t>reviewable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2402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Helvetica Neue"/>
              </a:rPr>
              <a:t>Adding a member to a team is a code change someone can review before it 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5D6A0"/>
                </a:solidFill>
                <a:latin typeface="Menlo"/>
              </a:rPr>
              <a:t>repeatable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974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96AE"/>
                </a:solidFill>
                <a:latin typeface="Helvetica Neue"/>
              </a:rPr>
              <a:t>pulumi up gets you the identical team + access setup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10149840" cy="100584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For solution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04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Spin up a fresh, fully-permissioned demo team the moment someone needs one — no “can you add me to that team?” message in Slack.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10149840" cy="1005840"/>
          </a:xfrm>
          <a:prstGeom prst="rect">
            <a:avLst/>
          </a:prstGeom>
          <a:solidFill>
            <a:srgbClr val="1D1A26"/>
          </a:solidFill>
          <a:ln w="12700">
            <a:solidFill>
              <a:srgbClr val="32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3F1F8"/>
                </a:solidFill>
                <a:latin typeface="Avenir Next"/>
              </a:rPr>
              <a:t>For everything 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47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9C96AE"/>
                </a:solidFill>
                <a:latin typeface="Helvetica Neue"/>
              </a:rPr>
              <a:t>The same pattern covers the rest of Pulumi Cloud administration — RBAC roles, webhooks, agent pools, policy groups — anything the Service provider exposes becomes code, not clicks.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897880"/>
            <a:ext cx="8686800" cy="18288"/>
          </a:xfrm>
          <a:prstGeom prst="rect">
            <a:avLst/>
          </a:prstGeom>
          <a:solidFill>
            <a:srgbClr val="32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3F1F8"/>
                </a:solidFill>
                <a:latin typeface="Avenir Next"/>
              </a:rPr>
              <a:t>If it's worth doing twice, it's worth writing down as code — even the org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